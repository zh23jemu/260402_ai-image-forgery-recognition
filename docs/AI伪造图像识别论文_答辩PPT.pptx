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479E3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Midjourney</c:v>
                </c:pt>
                <c:pt idx="1">
                  <c:v>SD</c:v>
                </c:pt>
                <c:pt idx="2">
                  <c:v>ADM</c:v>
                </c:pt>
                <c:pt idx="3">
                  <c:v>BigGAN</c:v>
                </c:pt>
                <c:pt idx="4">
                  <c:v>GLIDE</c:v>
                </c:pt>
                <c:pt idx="5">
                  <c:v>VQDM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79.56</c:v>
                </c:pt>
                <c:pt idx="1">
                  <c:v>88.34</c:v>
                </c:pt>
                <c:pt idx="2">
                  <c:v>75.41</c:v>
                </c:pt>
                <c:pt idx="3">
                  <c:v>79.27</c:v>
                </c:pt>
                <c:pt idx="4">
                  <c:v>96.67</c:v>
                </c:pt>
                <c:pt idx="5">
                  <c:v>75.47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BA7-48F3-A891-8CDBC4EA73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</c:v>
                </c:pt>
              </c:strCache>
            </c:strRef>
          </c:tx>
          <c:spPr>
            <a:solidFill>
              <a:srgbClr val="29ADA3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Midjourney</c:v>
                </c:pt>
                <c:pt idx="1">
                  <c:v>SD</c:v>
                </c:pt>
                <c:pt idx="2">
                  <c:v>ADM</c:v>
                </c:pt>
                <c:pt idx="3">
                  <c:v>BigGAN</c:v>
                </c:pt>
                <c:pt idx="4">
                  <c:v>GLIDE</c:v>
                </c:pt>
                <c:pt idx="5">
                  <c:v>VQDM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82.04</c:v>
                </c:pt>
                <c:pt idx="1">
                  <c:v>91.3</c:v>
                </c:pt>
                <c:pt idx="2">
                  <c:v>79.34</c:v>
                </c:pt>
                <c:pt idx="3">
                  <c:v>82.4</c:v>
                </c:pt>
                <c:pt idx="4">
                  <c:v>96.82</c:v>
                </c:pt>
                <c:pt idx="5">
                  <c:v>77.150000000000006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BA7-48F3-A891-8CDBC4EA7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20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44200" y="0"/>
            <a:ext cx="1444752" cy="6858000"/>
          </a:xfrm>
          <a:prstGeom prst="rect">
            <a:avLst/>
          </a:prstGeom>
          <a:solidFill>
            <a:srgbClr val="0B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32520" y="777240"/>
            <a:ext cx="2560320" cy="5349240"/>
          </a:xfrm>
          <a:prstGeom prst="rect">
            <a:avLst/>
          </a:prstGeom>
          <a:solidFill>
            <a:srgbClr val="13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0" y="1097280"/>
            <a:ext cx="1828800" cy="18288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1417320"/>
            <a:ext cx="1463040" cy="164592"/>
          </a:xfrm>
          <a:prstGeom prst="rect">
            <a:avLst/>
          </a:prstGeom>
          <a:solidFill>
            <a:srgbClr val="F4A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0" y="1737360"/>
            <a:ext cx="1097280" cy="164592"/>
          </a:xfrm>
          <a:prstGeom prst="rect">
            <a:avLst/>
          </a:prstGeom>
          <a:solidFill>
            <a:srgbClr val="347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914400"/>
            <a:ext cx="749807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4CDE6"/>
                </a:solidFill>
                <a:latin typeface="Microsoft YaHei"/>
              </a:rPr>
              <a:t>答辩汇报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80160"/>
            <a:ext cx="7955279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</a:rPr>
              <a:t>AI伪造图像识别研究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40280"/>
            <a:ext cx="7223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6E7F2"/>
                </a:solidFill>
                <a:latin typeface="Microsoft YaHei"/>
              </a:rPr>
              <a:t>面向泛化检测的多模型识别与联合验证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99232"/>
            <a:ext cx="192024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182112"/>
            <a:ext cx="63093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DBE9"/>
                </a:solidFill>
                <a:latin typeface="Microsoft YaHei"/>
              </a:rPr>
              <a:t>从基线复现，到困难场景分析，再到两阶段联合验证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41648"/>
            <a:ext cx="841248" cy="310896"/>
          </a:xfrm>
          <a:prstGeom prst="round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059935"/>
            <a:ext cx="841248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FSD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27632" y="4041648"/>
            <a:ext cx="1554480" cy="310896"/>
          </a:xfrm>
          <a:prstGeom prst="roundRect">
            <a:avLst/>
          </a:prstGeom>
          <a:solidFill>
            <a:srgbClr val="F4A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27632" y="4059935"/>
            <a:ext cx="155448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Stay-Positive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041648"/>
            <a:ext cx="960120" cy="310896"/>
          </a:xfrm>
          <a:prstGeom prst="roundRect">
            <a:avLst/>
          </a:prstGeom>
          <a:solidFill>
            <a:srgbClr val="347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0128" y="4059935"/>
            <a:ext cx="96012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LVLM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37760"/>
            <a:ext cx="393192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E3EF"/>
                </a:solidFill>
                <a:latin typeface="Microsoft YaHei"/>
              </a:rPr>
              <a:t>学生：待填写</a:t>
            </a:r>
            <a:br/>
            <a:r>
              <a:rPr sz="1400" b="0" i="0">
                <a:solidFill>
                  <a:srgbClr val="D7E3EF"/>
                </a:solidFill>
                <a:latin typeface="Microsoft YaHei"/>
              </a:rPr>
              <a:t>指导教师：待填写</a:t>
            </a:r>
            <a:br/>
            <a:r>
              <a:rPr sz="1400" b="0" i="0">
                <a:solidFill>
                  <a:srgbClr val="D7E3EF"/>
                </a:solidFill>
                <a:latin typeface="Microsoft YaHei"/>
              </a:rPr>
              <a:t>完成时间：2026年5月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291840"/>
            <a:ext cx="17830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多模型</a:t>
            </a:r>
            <a:br/>
            <a:r>
              <a:rPr sz="2200" b="1" i="0">
                <a:solidFill>
                  <a:srgbClr val="FFFFFF"/>
                </a:solidFill>
                <a:latin typeface="Microsoft YaHei"/>
              </a:rPr>
              <a:t>基线复现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160520"/>
            <a:ext cx="17830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困难场景</a:t>
            </a:r>
            <a:br/>
            <a:r>
              <a:rPr sz="2200" b="1" i="0">
                <a:solidFill>
                  <a:srgbClr val="FFFFFF"/>
                </a:solidFill>
                <a:latin typeface="Microsoft YaHei"/>
              </a:rPr>
              <a:t>样本分析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029200"/>
            <a:ext cx="17830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联合验证</a:t>
            </a:r>
            <a:br/>
            <a:r>
              <a:rPr sz="2200" b="1" i="0">
                <a:solidFill>
                  <a:srgbClr val="FFFFFF"/>
                </a:solidFill>
                <a:latin typeface="Microsoft YaHei"/>
              </a:rPr>
              <a:t>与总结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ADA3"/>
                </a:solidFill>
                <a:latin typeface="Microsoft YaHei"/>
              </a:rPr>
              <a:t>01 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230"/>
                </a:solidFill>
                <a:latin typeface="Microsoft YaHei"/>
              </a:rPr>
              <a:t>为什么 AI 伪造图像检测越来越难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生成器迭代快，单一检测器很难同时兼顾泛化性、稳定性与解释性。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3063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691640"/>
            <a:ext cx="731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9ADA3"/>
                </a:solidFill>
                <a:latin typeface="Times New Roma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84831"/>
            <a:ext cx="25603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2230"/>
                </a:solidFill>
                <a:latin typeface="Microsoft YaHei"/>
              </a:rPr>
              <a:t>跨生成器泛化不足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2615184"/>
            <a:ext cx="658368" cy="28575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761488"/>
            <a:ext cx="2606040" cy="2331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训练时见过的生成器，和部署时遇到的生成器往往不一致。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单一模型容易学到特定数据集或生成器的局部模式。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1" y="1508760"/>
            <a:ext cx="3063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1691640"/>
            <a:ext cx="731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A048"/>
                </a:solidFill>
                <a:latin typeface="Times New Roma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2084831"/>
            <a:ext cx="268953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1A2230"/>
                </a:solidFill>
                <a:latin typeface="Microsoft YaHei"/>
              </a:rPr>
              <a:t>阈值与分数分布不稳定</a:t>
            </a:r>
            <a:endParaRPr sz="2000" b="1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59" y="2615184"/>
            <a:ext cx="658368" cy="28575"/>
          </a:xfrm>
          <a:prstGeom prst="rect">
            <a:avLst/>
          </a:prstGeom>
          <a:solidFill>
            <a:srgbClr val="F4A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2761488"/>
            <a:ext cx="2606040" cy="2331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真伪样本在边界区域容易重叠，0.5 附近最容易翻转。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不同协议、不同生成器下的阈值会发生明显漂移。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1508760"/>
            <a:ext cx="3063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44384" y="1691640"/>
            <a:ext cx="731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479E3"/>
                </a:solidFill>
                <a:latin typeface="Times New Roman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084831"/>
            <a:ext cx="25603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2230"/>
                </a:solidFill>
                <a:latin typeface="Microsoft YaHei"/>
              </a:rPr>
              <a:t>复杂样本难解释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44384" y="2615184"/>
            <a:ext cx="658368" cy="28575"/>
          </a:xfrm>
          <a:prstGeom prst="rect">
            <a:avLst/>
          </a:prstGeom>
          <a:solidFill>
            <a:srgbClr val="347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44384" y="2761488"/>
            <a:ext cx="2606040" cy="2331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误判样本往往不是“完全不像”，而是局部冲突和混合证据。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只给出真假结果不够，还需要进一步说明为什么会错。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05856"/>
            <a:ext cx="10881360" cy="420624"/>
          </a:xfrm>
          <a:prstGeom prst="roundRect">
            <a:avLst/>
          </a:prstGeom>
          <a:solidFill>
            <a:srgbClr val="EBFAF8"/>
          </a:solidFill>
          <a:ln>
            <a:solidFill>
              <a:srgbClr val="EB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779008"/>
            <a:ext cx="10332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230"/>
                </a:solidFill>
                <a:latin typeface="Microsoft YaHei"/>
              </a:rPr>
              <a:t>研究目标：构建一个面向泛化检测的多模型协同分析框架，把“复现、分析、联合验证”串成一条可复核的研究链条。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ADA3"/>
                </a:solidFill>
                <a:latin typeface="Microsoft YaHei"/>
              </a:rPr>
              <a:t>02 研究思路与创新点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230"/>
                </a:solidFill>
                <a:latin typeface="Microsoft YaHei"/>
              </a:rPr>
              <a:t>本文的研究主线与创新点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不是只做一个结果，而是把复现、困难场景分析和联合验证连成闭环。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2743200" cy="2148840"/>
          </a:xfrm>
          <a:prstGeom prst="roundRect">
            <a:avLst/>
          </a:prstGeom>
          <a:solidFill>
            <a:srgbClr val="EBFAF8"/>
          </a:solidFill>
          <a:ln>
            <a:solidFill>
              <a:srgbClr val="EB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47088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9ADA3"/>
                </a:solidFill>
                <a:latin typeface="Times New Roman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12848"/>
            <a:ext cx="2240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230"/>
                </a:solidFill>
                <a:latin typeface="Microsoft YaHei"/>
              </a:rPr>
              <a:t>多模型基线复现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60320"/>
            <a:ext cx="22402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F6B7B"/>
                </a:solidFill>
                <a:latin typeface="Microsoft YaHei"/>
              </a:rPr>
              <a:t>FSD、Stay-Positive、LVLM 放到同一实验框架下对比。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64208"/>
            <a:ext cx="2743200" cy="2148840"/>
          </a:xfrm>
          <a:prstGeom prst="roundRect">
            <a:avLst/>
          </a:prstGeom>
          <a:solidFill>
            <a:srgbClr val="FFF5E8"/>
          </a:solidFill>
          <a:ln>
            <a:solidFill>
              <a:srgbClr val="FF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1847088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A048"/>
                </a:solidFill>
                <a:latin typeface="Times New Roman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212848"/>
            <a:ext cx="2240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230"/>
                </a:solidFill>
                <a:latin typeface="Microsoft YaHei"/>
              </a:rPr>
              <a:t>ADM困难场景分析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560320"/>
            <a:ext cx="22402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F6B7B"/>
                </a:solidFill>
                <a:latin typeface="Microsoft YaHei"/>
              </a:rPr>
              <a:t>围绕阈值漂移、分数分布与样本级冲突定位失败模式。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664208"/>
            <a:ext cx="2743200" cy="2148840"/>
          </a:xfrm>
          <a:prstGeom prst="round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847088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479E3"/>
                </a:solidFill>
                <a:latin typeface="Times New Roman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212848"/>
            <a:ext cx="2240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230"/>
                </a:solidFill>
                <a:latin typeface="Microsoft YaHei"/>
              </a:rPr>
              <a:t>两阶段联合验证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60320"/>
            <a:ext cx="22402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F6B7B"/>
                </a:solidFill>
                <a:latin typeface="Microsoft YaHei"/>
              </a:rPr>
              <a:t>把 Stay-Positive 离线分数和 LVLM 语义标签接入训练计算图。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3584448" y="2359152"/>
            <a:ext cx="384048" cy="310896"/>
          </a:xfrm>
          <a:prstGeom prst="chevron">
            <a:avLst/>
          </a:prstGeom>
          <a:solidFill>
            <a:srgbClr val="E9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7031736" y="2359152"/>
            <a:ext cx="384048" cy="310896"/>
          </a:xfrm>
          <a:prstGeom prst="chevron">
            <a:avLst/>
          </a:prstGeom>
          <a:solidFill>
            <a:srgbClr val="E9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13232" y="4041648"/>
            <a:ext cx="1078992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22452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ADA3"/>
                </a:solidFill>
                <a:latin typeface="Microsoft YaHei"/>
              </a:rPr>
              <a:t>创新点 / 贡献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978408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1. 将三类方法纳入统一的多模型分析链条，而不是只做单一模型复现。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2. 以 ADM 为中心做阈值漂移、分数分布、样本级冲突的细粒度分析。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3. 验证 LVLM 结构化语义标签可以作为轻量辅助监督进入训练流程。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ADA3"/>
                </a:solidFill>
                <a:latin typeface="Microsoft YaHei"/>
              </a:rPr>
              <a:t>03 多模型基线复现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230"/>
                </a:solidFill>
                <a:latin typeface="Microsoft YaHei"/>
              </a:rPr>
              <a:t>多模型基线复现结果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FSD 在多生成器上表现稳定，但不同生成器之间仍存在明显差异。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417320"/>
          <a:ext cx="6492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52360" y="1481328"/>
            <a:ext cx="4069080" cy="4407408"/>
          </a:xfrm>
          <a:prstGeom prst="roundRect">
            <a:avLst/>
          </a:prstGeom>
          <a:solidFill>
            <a:srgbClr val="F8FAFC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75564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ADA3"/>
                </a:solidFill>
                <a:latin typeface="Microsoft YaHei"/>
              </a:rPr>
              <a:t>关键观察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48840"/>
            <a:ext cx="32918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Microsoft YaHei"/>
              </a:rPr>
              <a:t>1. GLIDE 最容易判别，Accuracy / AP 接近 97%。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816352"/>
            <a:ext cx="32918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Microsoft YaHei"/>
              </a:rPr>
              <a:t>2. ADM、VQDM 的指标明显更低，是典型的泛化挑战场景。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529584"/>
            <a:ext cx="32918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Microsoft YaHei"/>
              </a:rPr>
              <a:t>3. Stay-Positive 在固定真假对照任务中也能保持很高精度，更偏向稳健判别。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4443984"/>
            <a:ext cx="3401568" cy="969264"/>
          </a:xfrm>
          <a:prstGeom prst="roundRect">
            <a:avLst/>
          </a:prstGeom>
          <a:solidFill>
            <a:srgbClr val="FFF5E8"/>
          </a:solidFill>
          <a:ln>
            <a:solidFill>
              <a:srgbClr val="FF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2" y="4599432"/>
            <a:ext cx="3017520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230"/>
                </a:solidFill>
                <a:latin typeface="Microsoft YaHei"/>
              </a:rPr>
              <a:t>结论：FSD 适合作为未知生成器场景的研究主干，但还需要进一步做困难样本分析和联合验证。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ADA3"/>
                </a:solidFill>
                <a:latin typeface="Microsoft YaHei"/>
              </a:rPr>
              <a:t>04 ADM困难场景分析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230"/>
                </a:solidFill>
                <a:latin typeface="Microsoft YaHei"/>
              </a:rPr>
              <a:t>ADM 场景中的典型失败模式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从高优先级样本池中挑选 3 个典型案例，观察模型为什么会在边界样本上出现分歧。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8" y="1444750"/>
            <a:ext cx="3200400" cy="3652036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dm_case_001_284_adm_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9072"/>
            <a:ext cx="301752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187952"/>
            <a:ext cx="822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ADA3"/>
                </a:solidFill>
                <a:latin typeface="Microsoft YaHei"/>
              </a:rPr>
              <a:t>案例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278892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Microsoft YaHei"/>
              </a:rPr>
              <a:t>边界样本：人像与前景主体的局部边缘较容易触发判别波动。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44750"/>
            <a:ext cx="3200400" cy="3652036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dm_case_002_280_adm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719072"/>
            <a:ext cx="3017520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4187952"/>
            <a:ext cx="822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A048"/>
                </a:solidFill>
                <a:latin typeface="Microsoft YaHei"/>
              </a:rPr>
              <a:t>案例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480560"/>
            <a:ext cx="278892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Microsoft YaHei"/>
              </a:rPr>
              <a:t>冲突样本：多主体叠加后，轮廓与纹理会出现明显混叠。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81328"/>
            <a:ext cx="3246120" cy="3615458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dm_case_004_385_adm_1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19072"/>
            <a:ext cx="301752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4187952"/>
            <a:ext cx="822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79E3"/>
                </a:solidFill>
                <a:latin typeface="Microsoft YaHei"/>
              </a:rPr>
              <a:t>案例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480560"/>
            <a:ext cx="278892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Microsoft YaHei"/>
              </a:rPr>
              <a:t>稳定外观：整体较自然，但局部细节仍可能诱发模型分歧。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30368"/>
            <a:ext cx="10744200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369120"/>
            <a:ext cx="10241280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A2230"/>
                </a:solidFill>
                <a:latin typeface="Microsoft YaHei"/>
              </a:rPr>
              <a:t>三类失败模式：阈值漂移</a:t>
            </a:r>
            <a:r>
              <a:rPr sz="1700" b="1" i="0" dirty="0">
                <a:solidFill>
                  <a:srgbClr val="1A2230"/>
                </a:solidFill>
                <a:latin typeface="Microsoft YaHei"/>
              </a:rPr>
              <a:t>   |   </a:t>
            </a:r>
            <a:r>
              <a:rPr sz="1700" b="1" i="0" dirty="0" err="1">
                <a:solidFill>
                  <a:srgbClr val="1A2230"/>
                </a:solidFill>
                <a:latin typeface="Microsoft YaHei"/>
              </a:rPr>
              <a:t>分数分布重叠</a:t>
            </a:r>
            <a:r>
              <a:rPr sz="1700" b="1" i="0" dirty="0">
                <a:solidFill>
                  <a:srgbClr val="1A2230"/>
                </a:solidFill>
                <a:latin typeface="Microsoft YaHei"/>
              </a:rPr>
              <a:t>   |   </a:t>
            </a:r>
            <a:r>
              <a:rPr sz="1700" b="1" i="0" dirty="0" err="1">
                <a:solidFill>
                  <a:srgbClr val="1A2230"/>
                </a:solidFill>
                <a:latin typeface="Microsoft YaHei"/>
              </a:rPr>
              <a:t>样本级冲突</a:t>
            </a:r>
            <a:endParaRPr sz="1700" b="1" i="0" dirty="0">
              <a:solidFill>
                <a:srgbClr val="1A2230"/>
              </a:solidFill>
              <a:latin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5660136"/>
            <a:ext cx="10241280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结论：模型并非“整体不行”，而是会在局部异常和边界样本上出现不稳定翻转。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ADA3"/>
                </a:solidFill>
                <a:latin typeface="Microsoft YaHei"/>
              </a:rPr>
              <a:t>05 两阶段联合验证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230"/>
                </a:solidFill>
                <a:latin typeface="Microsoft YaHei"/>
              </a:rPr>
              <a:t>两阶段联合验证：从离线分数到语义监督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第一阶段验证训练链路，第二阶段验证 LVLM 监督能否真正进入训练计算图。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4114800" cy="4647536"/>
          </a:xfrm>
          <a:prstGeom prst="roundRect">
            <a:avLst/>
          </a:prstGeom>
          <a:solidFill>
            <a:srgbClr val="F8FAFC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28800"/>
            <a:ext cx="164592" cy="3749039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3584448"/>
            <a:ext cx="164592" cy="1828800"/>
          </a:xfrm>
          <a:prstGeom prst="rect">
            <a:avLst/>
          </a:prstGeom>
          <a:solidFill>
            <a:srgbClr val="347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184708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ADA3"/>
                </a:solidFill>
                <a:latin typeface="Times New Roman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10312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2230"/>
                </a:solidFill>
                <a:latin typeface="Microsoft YaHei"/>
              </a:rPr>
              <a:t>FSD + Stay-Positive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87168"/>
            <a:ext cx="338328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Microsoft YaHei"/>
              </a:rPr>
              <a:t>10000 step</a:t>
            </a:r>
            <a:br/>
            <a:r>
              <a:rPr sz="1300" b="0" i="0">
                <a:solidFill>
                  <a:srgbClr val="1A2230"/>
                </a:solidFill>
                <a:latin typeface="Microsoft YaHei"/>
              </a:rPr>
              <a:t>ADM / SD / Midjourney：95.50 / 97.50</a:t>
            </a:r>
            <a:br/>
            <a:r>
              <a:rPr sz="1300" b="0" i="0">
                <a:solidFill>
                  <a:srgbClr val="1A2230"/>
                </a:solidFill>
                <a:latin typeface="Microsoft YaHei"/>
              </a:rPr>
              <a:t>95.34 / 97.90，87.00 / 90.47</a:t>
            </a:r>
            <a:br/>
            <a:r>
              <a:rPr sz="1300" b="0" i="0">
                <a:solidFill>
                  <a:srgbClr val="1A2230"/>
                </a:solidFill>
                <a:latin typeface="Microsoft YaHei"/>
              </a:rPr>
              <a:t>结论：链路跑通，但有效 SP 样本仍然偏少。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675887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79E3"/>
                </a:solidFill>
                <a:latin typeface="Times New Roman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93192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2230"/>
                </a:solidFill>
                <a:latin typeface="Microsoft YaHei"/>
              </a:rPr>
              <a:t>FSD + LVLM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315968"/>
            <a:ext cx="33832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Microsoft YaHei"/>
              </a:rPr>
              <a:t>10000 step</a:t>
            </a:r>
            <a:br/>
            <a:r>
              <a:rPr sz="1200" b="0" i="0">
                <a:solidFill>
                  <a:srgbClr val="1A2230"/>
                </a:solidFill>
                <a:latin typeface="Microsoft YaHei"/>
              </a:rPr>
              <a:t>ADM / SD / Midjourney：95.22 / 97.45</a:t>
            </a:r>
            <a:br/>
            <a:r>
              <a:rPr sz="1200" b="0" i="0">
                <a:solidFill>
                  <a:srgbClr val="1A2230"/>
                </a:solidFill>
                <a:latin typeface="Microsoft YaHei"/>
              </a:rPr>
              <a:t>95.33 / 97.72，86.97 / 90.38</a:t>
            </a:r>
            <a:br/>
            <a:r>
              <a:rPr sz="1200" b="0" i="0">
                <a:solidFill>
                  <a:srgbClr val="1A2230"/>
                </a:solidFill>
                <a:latin typeface="Microsoft YaHei"/>
              </a:rPr>
              <a:t>ADM 上额外输出 LVLM F1 = 0.1778</a:t>
            </a:r>
            <a:br/>
            <a:r>
              <a:rPr sz="1200" b="0" i="0">
                <a:solidFill>
                  <a:srgbClr val="1A2230"/>
                </a:solidFill>
                <a:latin typeface="Microsoft YaHei"/>
              </a:rPr>
              <a:t>结论：语义监督已进入训练图，但仍需更多标签和更稳的权重策略。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554479"/>
            <a:ext cx="6446520" cy="4647537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1764792"/>
            <a:ext cx="19202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ADA3"/>
                </a:solidFill>
                <a:latin typeface="Microsoft YaHei"/>
              </a:rPr>
              <a:t>关键证据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057400"/>
            <a:ext cx="5989320" cy="713232"/>
          </a:xfrm>
          <a:prstGeom prst="roundRect">
            <a:avLst/>
          </a:prstGeom>
          <a:solidFill>
            <a:srgbClr val="EBFAF8"/>
          </a:solidFill>
          <a:ln>
            <a:solidFill>
              <a:srgbClr val="EB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2267712"/>
            <a:ext cx="55778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230"/>
                </a:solidFill>
                <a:latin typeface="Microsoft YaHei"/>
              </a:rPr>
              <a:t>valid_lvlm_samples &gt; 0 说明 LVLM 不只是解释材料，而是真的进入了训练计算图。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063240"/>
            <a:ext cx="17373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3255264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9ADA3"/>
                </a:solidFill>
                <a:latin typeface="Times New Roman"/>
              </a:rPr>
              <a:t>6094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11880"/>
            <a:ext cx="15544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B7B"/>
                </a:solidFill>
                <a:latin typeface="Times New Roman"/>
              </a:rPr>
              <a:t>steps_with_valid_lvlm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3488" y="3063240"/>
            <a:ext cx="17373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4927" y="3255264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9ADA3"/>
                </a:solidFill>
                <a:latin typeface="Times New Roman"/>
              </a:rPr>
              <a:t>1.6343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611880"/>
            <a:ext cx="15544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B7B"/>
                </a:solidFill>
                <a:latin typeface="Times New Roman"/>
              </a:rPr>
              <a:t>avg_valid_lvlm_samples_per_step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3063240"/>
            <a:ext cx="17373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63456" y="3255264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479E3"/>
                </a:solidFill>
                <a:latin typeface="Times New Roman"/>
              </a:rPr>
              <a:t>0.1778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611880"/>
            <a:ext cx="15544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B7B"/>
                </a:solidFill>
                <a:latin typeface="Times New Roman"/>
              </a:rPr>
              <a:t>LVLM F1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036804"/>
              </p:ext>
            </p:extLst>
          </p:nvPr>
        </p:nvGraphicFramePr>
        <p:xfrm>
          <a:off x="5340096" y="4284164"/>
          <a:ext cx="6035040" cy="1441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训练设置</a:t>
                      </a:r>
                    </a:p>
                  </a:txBody>
                  <a:tcPr marL="36576" marR="36576" marT="27432" marB="27432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ADM</a:t>
                      </a:r>
                    </a:p>
                  </a:txBody>
                  <a:tcPr marL="36576" marR="36576" marT="27432" marB="27432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SD</a:t>
                      </a:r>
                    </a:p>
                  </a:txBody>
                  <a:tcPr marL="36576" marR="36576" marT="27432" marB="27432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Midjourney</a:t>
                      </a:r>
                    </a:p>
                  </a:txBody>
                  <a:tcPr marL="36576" marR="36576" marT="27432" marB="27432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辅助指标</a:t>
                      </a:r>
                    </a:p>
                  </a:txBody>
                  <a:tcPr marL="36576" marR="36576" marT="27432" marB="27432">
                    <a:solidFill>
                      <a:srgbClr val="0F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第一阶段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FSD + Stay-Positive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1A2230"/>
                          </a:solidFill>
                          <a:latin typeface="Microsoft YaHei"/>
                        </a:rPr>
                        <a:t>95.50 / 97.50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95.34 / 97.90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87.00 / 90.47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Microsoft YaHei"/>
                        </a:rPr>
                        <a:t>SP 有效样本较少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第二阶段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FSD + LVLM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95.22 / 97.45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95.33 / 97.72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</a:rPr>
                        <a:t>86.97 / 90.38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1A2230"/>
                          </a:solidFill>
                          <a:latin typeface="Microsoft YaHei"/>
                        </a:rPr>
                        <a:t>LVLM F1 = 0.1778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49240" y="5686908"/>
            <a:ext cx="6035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5F6B7B"/>
                </a:solidFill>
                <a:latin typeface="Microsoft YaHei"/>
              </a:rPr>
              <a:t>结论：第二阶段属于“</a:t>
            </a:r>
            <a:r>
              <a:rPr sz="1300" b="0" i="0" dirty="0" err="1">
                <a:solidFill>
                  <a:srgbClr val="5F6B7B"/>
                </a:solidFill>
                <a:latin typeface="Microsoft YaHei"/>
              </a:rPr>
              <a:t>最小量化验证</a:t>
            </a:r>
            <a:r>
              <a:rPr sz="1300" b="0" i="0" dirty="0">
                <a:solidFill>
                  <a:srgbClr val="5F6B7B"/>
                </a:solidFill>
                <a:latin typeface="Microsoft YaHei"/>
              </a:rPr>
              <a:t>”，</a:t>
            </a:r>
            <a:r>
              <a:rPr sz="1300" b="0" i="0" dirty="0" err="1">
                <a:solidFill>
                  <a:srgbClr val="5F6B7B"/>
                </a:solidFill>
                <a:latin typeface="Microsoft YaHei"/>
              </a:rPr>
              <a:t>它证明了语义监督已经接入，但还没有显著抬升主任务指标</a:t>
            </a:r>
            <a:r>
              <a:rPr sz="1300" b="0" i="0" dirty="0">
                <a:solidFill>
                  <a:srgbClr val="5F6B7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ADA3"/>
                </a:solidFill>
                <a:latin typeface="Microsoft YaHei"/>
              </a:rPr>
              <a:t>06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230"/>
                </a:solidFill>
                <a:latin typeface="Microsoft YaHei"/>
              </a:rPr>
              <a:t>研究结论与后续工作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2412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B"/>
                </a:solidFill>
                <a:latin typeface="Microsoft YaHei"/>
              </a:rPr>
              <a:t>本文的价值在于把三个层次的证据整合到同一个研究过程中：指标、失败模式和联合验证。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572768"/>
            <a:ext cx="51937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ADA3"/>
                </a:solidFill>
                <a:latin typeface="Microsoft YaHei"/>
              </a:rPr>
              <a:t>主要结论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75488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A2230"/>
                </a:solidFill>
                <a:latin typeface="Microsoft YaHei"/>
              </a:rPr>
              <a:t>1. 完成了 FSD、Stay-Positive、LVLM 的统一复现与对比。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A2230"/>
                </a:solidFill>
                <a:latin typeface="Microsoft YaHei"/>
              </a:rPr>
              <a:t>2. 证明 ADM 的主要难点来自阈值漂移和样本级冲突，而不只是整体精度不足。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A2230"/>
                </a:solidFill>
                <a:latin typeface="Microsoft YaHei"/>
              </a:rPr>
              <a:t>3. 验证了 LVLM 语义标签可以作为轻量辅助监督接入训练流程。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4572000" cy="19050"/>
          </a:xfrm>
          <a:prstGeom prst="rect">
            <a:avLst/>
          </a:prstGeom>
          <a:solidFill>
            <a:srgbClr val="E9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A048"/>
                </a:solidFill>
                <a:latin typeface="Microsoft YaHei"/>
              </a:rPr>
              <a:t>后续工作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4663440" cy="1325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扩大 LVLM 标签规模和类别均衡性。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优化阈值校准、样本筛选和损失权重。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扩展到更多生成器和更多随机种子消融。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1051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79E3"/>
                </a:solidFill>
                <a:latin typeface="Microsoft YaHei"/>
              </a:rPr>
              <a:t>答辩时可这样总结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21408"/>
            <a:ext cx="4526280" cy="2423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这篇论文不是单纯复现已有方法，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而是把多模型基线比较、ADM 困难场景剖析、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两阶段联合验证串成了一条完整链条。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800" b="0">
              <a:solidFill>
                <a:srgbClr val="1A2230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它说明：在 AI 伪造图像识别中，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“更稳的判别”与“更可解释的监督”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A2230"/>
                </a:solidFill>
                <a:latin typeface="Microsoft YaHei"/>
              </a:rPr>
              <a:t>可以被放到同一个研究框架里讨论。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773168"/>
            <a:ext cx="4526280" cy="822960"/>
          </a:xfrm>
          <a:prstGeom prst="round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5001768"/>
            <a:ext cx="4114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230"/>
                </a:solidFill>
                <a:latin typeface="Microsoft YaHei"/>
              </a:rPr>
              <a:t>谢谢各位老师，请批评指正。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B"/>
                </a:solidFill>
                <a:latin typeface="Times New Roman"/>
              </a:rPr>
              <a:t>AI伪造图像识别研究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B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06840" y="1097280"/>
            <a:ext cx="2468880" cy="164592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06840" y="1463040"/>
            <a:ext cx="1920240" cy="164592"/>
          </a:xfrm>
          <a:prstGeom prst="rect">
            <a:avLst/>
          </a:prstGeom>
          <a:solidFill>
            <a:srgbClr val="F4A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3035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8CDE6"/>
                </a:solidFill>
                <a:latin typeface="Microsoft YaHei"/>
              </a:rPr>
              <a:t>答疑交流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594360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</a:rPr>
              <a:t>谢谢各位老师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62179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D6E7F2"/>
                </a:solidFill>
                <a:latin typeface="Microsoft YaHei"/>
              </a:rPr>
              <a:t>恳请批评指正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639312"/>
            <a:ext cx="1554480" cy="38100"/>
          </a:xfrm>
          <a:prstGeom prst="rect">
            <a:avLst/>
          </a:prstGeom>
          <a:solidFill>
            <a:srgbClr val="2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913632"/>
            <a:ext cx="694944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D7E3EF"/>
                </a:solidFill>
                <a:latin typeface="Microsoft YaHei"/>
              </a:rPr>
              <a:t>如需进一步展开，可围绕</a:t>
            </a:r>
            <a:r>
              <a:rPr sz="1600" b="0" i="0">
                <a:solidFill>
                  <a:srgbClr val="D7E3EF"/>
                </a:solidFill>
                <a:latin typeface="Microsoft YaHei"/>
              </a:rPr>
              <a:t>：</a:t>
            </a:r>
            <a:endParaRPr lang="en-US" sz="1600" b="0" i="0">
              <a:solidFill>
                <a:srgbClr val="D7E3EF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br>
              <a:rPr dirty="0"/>
            </a:br>
            <a:r>
              <a:rPr sz="1600" b="0" i="0" dirty="0">
                <a:solidFill>
                  <a:srgbClr val="D7E3EF"/>
                </a:solidFill>
                <a:latin typeface="Microsoft YaHei"/>
              </a:rPr>
              <a:t>1. </a:t>
            </a:r>
            <a:r>
              <a:rPr sz="1600" b="0" i="0" dirty="0" err="1">
                <a:solidFill>
                  <a:srgbClr val="D7E3EF"/>
                </a:solidFill>
                <a:latin typeface="Microsoft YaHei"/>
              </a:rPr>
              <a:t>多模型基线差异</a:t>
            </a:r>
            <a:r>
              <a:rPr sz="1600" b="0" i="0" dirty="0">
                <a:solidFill>
                  <a:srgbClr val="D7E3EF"/>
                </a:solidFill>
                <a:latin typeface="Microsoft YaHei"/>
              </a:rPr>
              <a:t>  2. ADM </a:t>
            </a:r>
            <a:r>
              <a:rPr sz="1600" b="0" i="0" dirty="0" err="1">
                <a:solidFill>
                  <a:srgbClr val="D7E3EF"/>
                </a:solidFill>
                <a:latin typeface="Microsoft YaHei"/>
              </a:rPr>
              <a:t>困难样本</a:t>
            </a:r>
            <a:r>
              <a:rPr sz="1600" b="0" i="0" dirty="0">
                <a:solidFill>
                  <a:srgbClr val="D7E3EF"/>
                </a:solidFill>
                <a:latin typeface="Microsoft YaHei"/>
              </a:rPr>
              <a:t>  3. LVLM </a:t>
            </a:r>
            <a:r>
              <a:rPr sz="1600" b="0" i="0" dirty="0" err="1">
                <a:solidFill>
                  <a:srgbClr val="D7E3EF"/>
                </a:solidFill>
                <a:latin typeface="Microsoft YaHei"/>
              </a:rPr>
              <a:t>联合验证结果</a:t>
            </a:r>
            <a:endParaRPr sz="1600" b="0" i="0" dirty="0">
              <a:solidFill>
                <a:srgbClr val="D7E3EF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98280" y="324612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526</Words>
  <Application>Microsoft Office PowerPoint</Application>
  <PresentationFormat>宽屏</PresentationFormat>
  <Paragraphs>138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 Zhou</cp:lastModifiedBy>
  <cp:revision>4</cp:revision>
  <dcterms:created xsi:type="dcterms:W3CDTF">2013-01-27T09:14:16Z</dcterms:created>
  <dcterms:modified xsi:type="dcterms:W3CDTF">2026-05-08T06:24:20Z</dcterms:modified>
  <cp:category/>
</cp:coreProperties>
</file>